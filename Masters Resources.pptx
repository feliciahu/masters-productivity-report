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3" r:id="rId3"/>
    <p:sldId id="304" r:id="rId4"/>
    <p:sldId id="306" r:id="rId5"/>
    <p:sldId id="305" r:id="rId6"/>
    <p:sldId id="302" r:id="rId7"/>
    <p:sldId id="3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8C"/>
    <a:srgbClr val="702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1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72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lan, Kevin" userId="f93e0dc2-f4f4-435c-ba6c-9193d40f5673" providerId="ADAL" clId="{2A3BFA96-9ADE-40F5-977F-77E740BAB1A7}"/>
    <pc:docChg chg="undo custSel modSld">
      <pc:chgData name="Berlan, Kevin" userId="f93e0dc2-f4f4-435c-ba6c-9193d40f5673" providerId="ADAL" clId="{2A3BFA96-9ADE-40F5-977F-77E740BAB1A7}" dt="2024-09-16T17:22:07.699" v="156"/>
      <pc:docMkLst>
        <pc:docMk/>
      </pc:docMkLst>
      <pc:sldChg chg="modSp mod">
        <pc:chgData name="Berlan, Kevin" userId="f93e0dc2-f4f4-435c-ba6c-9193d40f5673" providerId="ADAL" clId="{2A3BFA96-9ADE-40F5-977F-77E740BAB1A7}" dt="2024-09-16T17:16:55.514" v="39" actId="20577"/>
        <pc:sldMkLst>
          <pc:docMk/>
          <pc:sldMk cId="2826815239" sldId="300"/>
        </pc:sldMkLst>
        <pc:spChg chg="mod">
          <ac:chgData name="Berlan, Kevin" userId="f93e0dc2-f4f4-435c-ba6c-9193d40f5673" providerId="ADAL" clId="{2A3BFA96-9ADE-40F5-977F-77E740BAB1A7}" dt="2024-09-16T17:16:55.514" v="39" actId="20577"/>
          <ac:spMkLst>
            <pc:docMk/>
            <pc:sldMk cId="2826815239" sldId="300"/>
            <ac:spMk id="9" creationId="{AC909ED4-9CDF-449D-8AAE-18C9A4BA8930}"/>
          </ac:spMkLst>
        </pc:spChg>
      </pc:sldChg>
      <pc:sldChg chg="modSp mod">
        <pc:chgData name="Berlan, Kevin" userId="f93e0dc2-f4f4-435c-ba6c-9193d40f5673" providerId="ADAL" clId="{2A3BFA96-9ADE-40F5-977F-77E740BAB1A7}" dt="2024-09-16T17:22:07.699" v="156"/>
        <pc:sldMkLst>
          <pc:docMk/>
          <pc:sldMk cId="2208421768" sldId="302"/>
        </pc:sldMkLst>
        <pc:spChg chg="mod">
          <ac:chgData name="Berlan, Kevin" userId="f93e0dc2-f4f4-435c-ba6c-9193d40f5673" providerId="ADAL" clId="{2A3BFA96-9ADE-40F5-977F-77E740BAB1A7}" dt="2024-09-16T17:22:07.699" v="156"/>
          <ac:spMkLst>
            <pc:docMk/>
            <pc:sldMk cId="2208421768" sldId="302"/>
            <ac:spMk id="7" creationId="{746F2BDB-156C-8807-B3D4-F5395AD8BC75}"/>
          </ac:spMkLst>
        </pc:spChg>
      </pc:sldChg>
      <pc:sldChg chg="modSp mod">
        <pc:chgData name="Berlan, Kevin" userId="f93e0dc2-f4f4-435c-ba6c-9193d40f5673" providerId="ADAL" clId="{2A3BFA96-9ADE-40F5-977F-77E740BAB1A7}" dt="2024-09-16T15:21:31.974" v="27" actId="20577"/>
        <pc:sldMkLst>
          <pc:docMk/>
          <pc:sldMk cId="370019953" sldId="304"/>
        </pc:sldMkLst>
        <pc:spChg chg="mod">
          <ac:chgData name="Berlan, Kevin" userId="f93e0dc2-f4f4-435c-ba6c-9193d40f5673" providerId="ADAL" clId="{2A3BFA96-9ADE-40F5-977F-77E740BAB1A7}" dt="2024-09-16T15:21:31.974" v="27" actId="20577"/>
          <ac:spMkLst>
            <pc:docMk/>
            <pc:sldMk cId="370019953" sldId="304"/>
            <ac:spMk id="3" creationId="{A82E8306-0EE9-7768-16B1-C87B1E847B05}"/>
          </ac:spMkLst>
        </pc:spChg>
      </pc:sldChg>
      <pc:sldChg chg="modSp mod">
        <pc:chgData name="Berlan, Kevin" userId="f93e0dc2-f4f4-435c-ba6c-9193d40f5673" providerId="ADAL" clId="{2A3BFA96-9ADE-40F5-977F-77E740BAB1A7}" dt="2024-09-16T17:19:03.073" v="155" actId="20577"/>
        <pc:sldMkLst>
          <pc:docMk/>
          <pc:sldMk cId="2510559736" sldId="307"/>
        </pc:sldMkLst>
        <pc:spChg chg="mod">
          <ac:chgData name="Berlan, Kevin" userId="f93e0dc2-f4f4-435c-ba6c-9193d40f5673" providerId="ADAL" clId="{2A3BFA96-9ADE-40F5-977F-77E740BAB1A7}" dt="2024-09-16T17:19:03.073" v="155" actId="20577"/>
          <ac:spMkLst>
            <pc:docMk/>
            <pc:sldMk cId="2510559736" sldId="307"/>
            <ac:spMk id="5" creationId="{46793E60-5D4E-8C89-C9F1-0409E4B12B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405F-BACE-4976-90F1-7D13561CE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B5D19-25F2-4F1D-B25D-72497899C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3FFC-7C15-47CF-A1D9-BB96D87F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BF5C-C086-4C10-9640-6C5AF84FD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285D-E51C-4766-9AC5-2E64D539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7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432B-4177-4ECB-97C5-9A9B3DB0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7EE2A-7B5D-4076-8495-E3A5072B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36EB8-43BC-4C85-8D3B-6A17F3B4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4A98F-2A17-4B22-AD7F-14B52CF1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BFA77-FF6F-42B2-BFCE-716C0CFD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149A-73F7-4C3E-9E33-33AE6AEB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0E602-3820-4357-B333-853813C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4FD9D-387C-4B09-9FDD-41E41AD6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23E9-6166-49DC-AAB6-5F626E50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0C1D1-595B-4265-8296-3B567C08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D5F1-847C-4A5B-9954-C5FA04FF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E1504-AB2B-4C47-A05F-EEC72B8D4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9C61B-2CC8-459C-8E8C-39E7DBAF5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E40D4-C907-4955-B549-3BA0B65B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3BF91-C799-4A23-91E7-B42F013E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32EC4-B7B5-4D02-AE38-FC14FEB0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4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8E2C-6E72-424C-9478-7BF0792B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28C2-6ADF-4824-AB79-80F2304FB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519B-BABF-48F3-9993-050EA5E16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09EA1-D781-47D0-8926-EC1446012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7D68B-94C0-4B77-BD18-947E9FF34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EDDD4-F165-427B-A14E-306F5176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39D98-A644-4A9B-B4AE-70E882C4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304B-6144-4C4D-A26A-DC49F55C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6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3B24-47FB-42B2-A17A-D045EEBC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F613D-66D4-4AA0-A169-C6D08885F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FED9F-55FA-499B-91EC-A6E95425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B6626-6EEA-4B7C-8DBB-0B7E2BF6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0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DA568-5D72-4DFE-AE91-4CBB5A8D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1747-8831-456F-9D9B-391A0146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37DE-D3F0-42EB-BB65-E6BD0565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04B3-21C2-48CE-B41F-3ADAE680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B4121-D632-4DBA-B634-819B752F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1D3A9-6087-4D61-83F2-25A7F51CB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243D3-BF67-486D-8E6E-FB7000D2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70E16-EEBD-4965-BD7F-3CE1106A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48CAC-0BCB-4F6A-9450-81DF3317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A29B-1B3D-4820-B0E6-E0B77708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E72FD-4DD1-4583-8CF1-CA5CCBA6B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29B7-8FC9-4B11-97FB-0E69691F9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D4E9C-ACBF-4FE7-A0FA-CF09D5E9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9C9EF-3C75-4F26-A880-3A426BF5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0110-BA7E-40F6-B0FB-97C7BE4D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CCA0-2084-4DD1-96DC-9DA4897C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1621F-5BDE-4CD7-A8C6-77DE4F45C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6DB5C-3B2D-4CA5-8FAD-7A7C3248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FE3C9-11A6-4AC1-86C8-FEE625B3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5D0D2-1F0B-4C54-A970-8F2519C8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8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801A5-2297-464D-B4F8-247584398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42091-0AC6-484B-A892-4CAB5DD8B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C21A6-D65A-4779-952E-A3D237E3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C92E-2479-4CB7-98BE-20C524F3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033E9-1172-4A44-AB3C-6C92F9C3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F8BB8-7CC2-402D-A18A-F51A19404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6B18B-EB0E-45D0-811B-74BD5095A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808D-1CE5-44DC-9DB3-FFAFC47AC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F8C8C-3CB8-4B26-9475-BD1AA03E44C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09C2D-0C6E-467F-A049-44019E332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BC4CD-D9FA-48E4-BCCB-2969D0D4E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z.mckesson.com/t/USPAnalytics/views/MastersFinanceDashboard/Scorecard" TargetMode="External"/><Relationship Id="rId7" Type="http://schemas.openxmlformats.org/officeDocument/2006/relationships/hyperlink" Target="https://app.powerbi.com/links/RtLr5sWCZ8?ctid=da67ef1b-ca59-4db2-9a8c-aa8d94617a16&amp;pbi_source=linkShare" TargetMode="External"/><Relationship Id="rId2" Type="http://schemas.openxmlformats.org/officeDocument/2006/relationships/hyperlink" Target="https://viz.mckesson.com/t/USPAnalytics/views/MastersEmailFlashScorecard_17198573362660/EXECSCORECARD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iz.mckesson.com/t/USPAnalytics/views/MastersIncentiveTracker/GrossProfitSummary" TargetMode="External"/><Relationship Id="rId5" Type="http://schemas.openxmlformats.org/officeDocument/2006/relationships/hyperlink" Target="https://app.powerbi.com/Redirect?action=OpenReport&amp;appId=5d5d5a81-e750-492b-800f-361638fb24c0&amp;reportObjectId=f583928f-fffd-4271-9376-21806cffb187&amp;ctid=da67ef1b-ca59-4db2-9a8c-aa8d94617a16&amp;reportPage=ReportSection275bf7b0d42192d832d7&amp;pbi_source=appShareLink&amp;portalSessionId=bec26d8b-fee8-4f88-a61f-25fbd72c92fd" TargetMode="External"/><Relationship Id="rId4" Type="http://schemas.openxmlformats.org/officeDocument/2006/relationships/hyperlink" Target="https://viz.mckesson.com/t/USPAnalytics/views/MastersPerformanceInsights/PerformanceInsight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iz.mckesson.com/t/USPAnalytics/views/MastersFinanceDashboard/Scorecar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viz.mckesson.com/t/USPAnalytics/views/MastersEmailFlashScorecard_17198573362660/EXECSCORECAR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viz.mckesson.com/t/USPAnalytics/views/MastersPerformanceInsights/PerformanceInsight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viz.mckesson.com/t/USPAnalytics/views/MastersFinanceDashboard/Scorecard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Redirect?action=OpenReport&amp;appId=5d5d5a81-e750-492b-800f-361638fb24c0&amp;reportObjectId=f583928f-fffd-4271-9376-21806cffb187&amp;ctid=da67ef1b-ca59-4db2-9a8c-aa8d94617a16&amp;reportPage=ReportSection275bf7b0d42192d832d7&amp;pbi_source=appShareLink&amp;portalSessionId=bec26d8b-fee8-4f88-a61f-25fbd72c92fd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z.mckesson.com/t/USPAnalytics/views/MastersIncentiveTracker/GrossProfitSummar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10612919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Resources Overview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909ED4-9CDF-449D-8AAE-18C9A4BA8930}"/>
              </a:ext>
            </a:extLst>
          </p:cNvPr>
          <p:cNvSpPr txBox="1">
            <a:spLocks/>
          </p:cNvSpPr>
          <p:nvPr/>
        </p:nvSpPr>
        <p:spPr>
          <a:xfrm>
            <a:off x="318957" y="931215"/>
            <a:ext cx="11424310" cy="4843412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Masters Performance Scorecard</a:t>
            </a:r>
            <a:r>
              <a:rPr lang="en-US" sz="13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Tracks actuals vs goal performance across data periods. Drills into Rep, Channel, Product, and Account level detail and trends</a:t>
            </a:r>
            <a:endParaRPr lang="en-US" sz="1300" u="sng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Masters Finance Dashboard</a:t>
            </a:r>
            <a:r>
              <a:rPr lang="en-US" sz="13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– Primary Masters sales dashboard reporting units, sales, and gross profit down to the customer and product levels</a:t>
            </a: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4"/>
              </a:rPr>
              <a:t>Masters Performance Insights</a:t>
            </a:r>
            <a:r>
              <a:rPr lang="en-US" sz="13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– Focused on identifying recent profitability drivers across reps, channels, customers, and products</a:t>
            </a: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Masters FY25 KPI Tracker</a:t>
            </a:r>
            <a:r>
              <a:rPr lang="en-US" sz="13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– Tracks progress to FY25 initiatives (new customer acquisitions, growth, web utilization, NSTAR growth, leakage, etc.)</a:t>
            </a: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Masters Incentive Tracker</a:t>
            </a:r>
            <a:r>
              <a:rPr lang="en-US" sz="1300" kern="100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3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visibility into compensation-based performance</a:t>
            </a:r>
            <a:endParaRPr lang="en-US" sz="13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7"/>
              </a:rPr>
              <a:t>IQVIA Leakage Dashboard</a:t>
            </a:r>
            <a:r>
              <a:rPr lang="en-US" sz="13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– IQVIA leakage opportunities (not Masters specific but leverage by Masters team)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Masters Productivity Report – Excel monthly report providing ranking of rep productivity across key metrics (customers served, calls, talk time, etc.)</a:t>
            </a:r>
            <a:endParaRPr lang="en-US" sz="13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SSRS Pricing Reports – Suite of legacy reports (sent via subscription) set-up to provide Masters pricing team with sales &amp; pricing data</a:t>
            </a:r>
          </a:p>
          <a:p>
            <a:pPr marL="457200" indent="-457200" algn="l" defTabSz="54381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Lead Channels: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544836" lvl="1" indent="-45720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Offboarding leads from Kyndra Krensavage, housed in Smartsheet.</a:t>
            </a:r>
          </a:p>
          <a:p>
            <a:pPr marL="1544836" lvl="1" indent="-45720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</a:rPr>
              <a:t>Rejunction leads from Sales Solutions, sent by Jonathan Dennehy to Josh Davis, also housed in Smartsheet.</a:t>
            </a:r>
          </a:p>
          <a:p>
            <a:pPr marL="1544836" lvl="1" indent="-45720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</a:rPr>
              <a:t>Tableau Dashboard BI leads, owned by Thad Bolline, running from a sandbox SQL table in Snowflake</a:t>
            </a:r>
          </a:p>
          <a:p>
            <a:pPr marL="1544836" lvl="1" indent="-45720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</a:rPr>
              <a:t>Mastersrx.com leads from pharmacies submitting contact forms, verified by Craig Herget.</a:t>
            </a:r>
          </a:p>
        </p:txBody>
      </p:sp>
    </p:spTree>
    <p:extLst>
      <p:ext uri="{BB962C8B-B14F-4D97-AF65-F5344CB8AC3E}">
        <p14:creationId xmlns:p14="http://schemas.microsoft.com/office/powerpoint/2010/main" val="282681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7120795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Performance Scorecard 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pic>
        <p:nvPicPr>
          <p:cNvPr id="2050" name="Picture 9">
            <a:extLst>
              <a:ext uri="{FF2B5EF4-FFF2-40B4-BE49-F238E27FC236}">
                <a16:creationId xmlns:a16="http://schemas.microsoft.com/office/drawing/2014/main" id="{E5A5C2C4-42F6-4844-C69A-66F4AFC12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62"/>
          <a:stretch/>
        </p:blipFill>
        <p:spPr bwMode="auto">
          <a:xfrm>
            <a:off x="274752" y="2334512"/>
            <a:ext cx="11642495" cy="4089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2E8306-0EE9-7768-16B1-C87B1E847B05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208573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Provides visibility into prior day, month to date, and fiscal year to date gross margin performance to goals across channel, product type, and by manager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Ability to drill into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performance drivers or view customer and item level trends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Daily email snapshots provided to LT, Managers, &amp; Sales Reps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l" defTabSz="543818">
              <a:lnSpc>
                <a:spcPct val="100000"/>
              </a:lnSpc>
            </a:pPr>
            <a:endParaRPr lang="en-US" sz="1300" u="sng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 defTabSz="543818">
              <a:lnSpc>
                <a:spcPct val="100000"/>
              </a:lnSpc>
            </a:pPr>
            <a:endParaRPr lang="en-US" sz="1400" dirty="0">
              <a:solidFill>
                <a:srgbClr val="000000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272727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AC4DE-EA94-B1DD-121B-BB9D633D78AD}"/>
              </a:ext>
            </a:extLst>
          </p:cNvPr>
          <p:cNvSpPr txBox="1"/>
          <p:nvPr/>
        </p:nvSpPr>
        <p:spPr>
          <a:xfrm>
            <a:off x="8331199" y="434353"/>
            <a:ext cx="3462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Masters Performance Scorecard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8149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7120795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Performance Insights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E8306-0EE9-7768-16B1-C87B1E847B05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105160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Identifies recent gross profit drivers in comparison to baseline performance 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Highlights products selling above/below baseline and provides visibility into market price points 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MTD performance &amp; actual vs goal tracking</a:t>
            </a:r>
            <a:endParaRPr lang="en-US" sz="1400" b="1" dirty="0">
              <a:solidFill>
                <a:srgbClr val="272727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AC4DE-EA94-B1DD-121B-BB9D633D78AD}"/>
              </a:ext>
            </a:extLst>
          </p:cNvPr>
          <p:cNvSpPr txBox="1"/>
          <p:nvPr/>
        </p:nvSpPr>
        <p:spPr>
          <a:xfrm>
            <a:off x="8331199" y="434353"/>
            <a:ext cx="3462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/>
              </a:rPr>
              <a:t>Masters Performance Insights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04ECF9-A87C-A48E-708C-30DCC81E1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76" y="2667000"/>
            <a:ext cx="5470902" cy="38015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B1CFA5-FD96-BFFD-D301-8CCDA5F01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901" y="2667000"/>
            <a:ext cx="5451242" cy="38076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178BEB-7237-E518-D0ED-29B3E427E5EE}"/>
              </a:ext>
            </a:extLst>
          </p:cNvPr>
          <p:cNvSpPr txBox="1"/>
          <p:nvPr/>
        </p:nvSpPr>
        <p:spPr>
          <a:xfrm>
            <a:off x="378276" y="2461308"/>
            <a:ext cx="24749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Recent Performance Drivers: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A071C-A2FF-8C1B-404A-ACE269E93750}"/>
              </a:ext>
            </a:extLst>
          </p:cNvPr>
          <p:cNvSpPr txBox="1"/>
          <p:nvPr/>
        </p:nvSpPr>
        <p:spPr>
          <a:xfrm>
            <a:off x="6268901" y="2435908"/>
            <a:ext cx="24749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Item Trends &amp; Pricing Info:</a:t>
            </a:r>
          </a:p>
        </p:txBody>
      </p:sp>
    </p:spTree>
    <p:extLst>
      <p:ext uri="{BB962C8B-B14F-4D97-AF65-F5344CB8AC3E}">
        <p14:creationId xmlns:p14="http://schemas.microsoft.com/office/powerpoint/2010/main" val="37001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7120795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Productivity Report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E8306-0EE9-7768-16B1-C87B1E847B05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105160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Excel based report provided monthly by Sales Performance &amp; Analytics Team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Tracks productivity of reps across key metrics (customers served, orders, lines, calls, talk time)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Request to automate and build into dashboard (move from monthly to daily data)</a:t>
            </a:r>
            <a:endParaRPr lang="en-US" sz="1400" b="1" dirty="0">
              <a:solidFill>
                <a:srgbClr val="272727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9B1C24-366F-926C-F1B3-84A80783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5" y="3388073"/>
            <a:ext cx="11184467" cy="3210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39F94-2358-DE5B-B78F-47CFBA9F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218" y="2071834"/>
            <a:ext cx="4467781" cy="110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7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7120795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Finance Dashboard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E8306-0EE9-7768-16B1-C87B1E847B05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105160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Primary general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sales performance dashboard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Sales, unit, ASP, &amp; margin trends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Drill in channel, vendor, customer, &amp; item level detail</a:t>
            </a:r>
            <a:endParaRPr lang="en-US" sz="1400" b="1" dirty="0">
              <a:solidFill>
                <a:srgbClr val="272727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AC4DE-EA94-B1DD-121B-BB9D633D78AD}"/>
              </a:ext>
            </a:extLst>
          </p:cNvPr>
          <p:cNvSpPr txBox="1"/>
          <p:nvPr/>
        </p:nvSpPr>
        <p:spPr>
          <a:xfrm>
            <a:off x="8331199" y="434353"/>
            <a:ext cx="3462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Masters Finance Dashboard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843CF-F5D2-30A6-BB85-9BB54F26F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0" y="1966720"/>
            <a:ext cx="10461955" cy="451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07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10612919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Incentives Tracker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19E5E-D96D-050B-C60D-9034B8C3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90" y="1557867"/>
            <a:ext cx="9944643" cy="4988027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6793E60-5D4E-8C89-C9F1-0409E4B12B89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719206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Provides visibility into compensation-based performance &amp; respective payout estimates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User level security applied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F2BDB-156C-8807-B3D4-F5395AD8BC75}"/>
              </a:ext>
            </a:extLst>
          </p:cNvPr>
          <p:cNvSpPr txBox="1"/>
          <p:nvPr/>
        </p:nvSpPr>
        <p:spPr>
          <a:xfrm>
            <a:off x="9144000" y="342603"/>
            <a:ext cx="2794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Masters FY25 KPI Tracker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842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A975-1B1C-4E60-B03F-41205B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" y="216764"/>
            <a:ext cx="10612919" cy="5964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A8C"/>
                </a:solidFill>
                <a:latin typeface="Libre Franklin Light" pitchFamily="2" charset="0"/>
              </a:rPr>
              <a:t>Masters </a:t>
            </a:r>
            <a:r>
              <a:rPr lang="en-US" sz="2800" dirty="0">
                <a:solidFill>
                  <a:srgbClr val="005A8C"/>
                </a:solidFill>
                <a:latin typeface="Libre Franklin Light" pitchFamily="2" charset="0"/>
              </a:rPr>
              <a:t>| FY25 Initiatives Tracker</a:t>
            </a:r>
            <a:endParaRPr lang="en-US" sz="2800" b="1" dirty="0">
              <a:solidFill>
                <a:srgbClr val="005A8C"/>
              </a:solidFill>
              <a:latin typeface="Libre Franklin Light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793E60-5D4E-8C89-C9F1-0409E4B12B89}"/>
              </a:ext>
            </a:extLst>
          </p:cNvPr>
          <p:cNvSpPr txBox="1">
            <a:spLocks/>
          </p:cNvSpPr>
          <p:nvPr/>
        </p:nvSpPr>
        <p:spPr>
          <a:xfrm>
            <a:off x="295833" y="813234"/>
            <a:ext cx="11424310" cy="719206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Progress towards FY25 goals across key initiatives</a:t>
            </a:r>
          </a:p>
          <a:p>
            <a:pPr marL="285750" indent="-2857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New customer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acquisition, growth, web utilization, NSTAR growth, leakage, etc.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3D804-4448-327D-E731-809BD860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32" y="1978894"/>
            <a:ext cx="9939867" cy="4538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FC4485-C656-3E62-5A79-08A47F01D2D6}"/>
              </a:ext>
            </a:extLst>
          </p:cNvPr>
          <p:cNvSpPr txBox="1"/>
          <p:nvPr/>
        </p:nvSpPr>
        <p:spPr>
          <a:xfrm>
            <a:off x="9685867" y="341090"/>
            <a:ext cx="215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Masters Incentive Tracker</a:t>
            </a:r>
            <a:r>
              <a:rPr lang="en-US" sz="1200" kern="100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055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67ef1b-ca59-4db2-9a8c-aa8d94617a16}" enabled="0" method="" siteId="{da67ef1b-ca59-4db2-9a8c-aa8d94617a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13713</TotalTime>
  <Words>485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Libre Franklin Light</vt:lpstr>
      <vt:lpstr>Office Theme</vt:lpstr>
      <vt:lpstr>Masters | Resources Overview</vt:lpstr>
      <vt:lpstr>Masters | Performance Scorecard </vt:lpstr>
      <vt:lpstr>Masters | Performance Insights</vt:lpstr>
      <vt:lpstr>Masters | Productivity Report</vt:lpstr>
      <vt:lpstr>Masters | Finance Dashboard</vt:lpstr>
      <vt:lpstr>Masters | Incentives Tracker</vt:lpstr>
      <vt:lpstr>Masters | FY25 Initiatives Tracker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Berlan, Kevin</dc:creator>
  <cp:lastModifiedBy>Berlan, Kevin</cp:lastModifiedBy>
  <cp:revision>27</cp:revision>
  <dcterms:created xsi:type="dcterms:W3CDTF">2023-05-16T21:07:08Z</dcterms:created>
  <dcterms:modified xsi:type="dcterms:W3CDTF">2024-09-16T18:21:41Z</dcterms:modified>
</cp:coreProperties>
</file>